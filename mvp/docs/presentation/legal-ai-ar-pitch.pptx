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3440" y="1554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04A02"/>
                </a:solidFill>
                <a:latin typeface="Georgia"/>
              </a:rPr>
              <a:t>pwc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1627632"/>
            <a:ext cx="12700" cy="228600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97880" y="1572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52525"/>
                </a:solidFill>
                <a:latin typeface="Arial"/>
              </a:rPr>
              <a:t>Legal AI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PLATAFORMA DE INTELIGENCIA ARTIFICIAL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52525"/>
                </a:solidFill>
                <a:latin typeface="Georgia"/>
              </a:rPr>
              <a:t>Jurisprudencia argentina
al alcance de una pregunta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96969"/>
                </a:solidFill>
                <a:latin typeface="Arial"/>
              </a:rPr>
              <a:t>Ingesta automatizada, búsqueda semántica y asistente jurisprudencial con IA generativa para potenciar la práctica legal.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754880"/>
            <a:ext cx="1630679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Azure Cloud-Native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7111" y="4754880"/>
            <a:ext cx="1704339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.NET 8 + Angular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64602" y="4754880"/>
            <a:ext cx="746760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GPT-5o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EL DESAFÍO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52525"/>
                </a:solidFill>
                <a:latin typeface="Georgia"/>
              </a:rPr>
              <a:t>La investigación jurisprudencial hoy es lenta,
fragmentada e incompleta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2367" y="2834640"/>
            <a:ext cx="3108960" cy="2377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2367" y="2885440"/>
            <a:ext cx="38100" cy="22758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13535" y="303580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13535" y="303580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3535" y="30231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3535" y="349300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Horas de búsqueda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3535" y="3785616"/>
            <a:ext cx="2706624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Los abogados navegan múltiples portales públicos (CSJN, SAIJ, PJN, SCBA) sin integración, copiando y pegando resultados.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2834640"/>
            <a:ext cx="3108960" cy="2377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1367" y="2885440"/>
            <a:ext cx="38100" cy="22758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42535" y="303580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42535" y="303580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2535" y="30231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2535" y="349300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Búsqueda por texto exacto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2535" y="3785616"/>
            <a:ext cx="2706624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Los buscadores públicos solo soportan keywords. No entienden la intención ni el contexto jurídico de la consulta.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0367" y="2834640"/>
            <a:ext cx="3108960" cy="2377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0367" y="2885440"/>
            <a:ext cx="38100" cy="22758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71535" y="303580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1535" y="303580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1535" y="30231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1535" y="349300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Riesgo de fallos omitidos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1535" y="3785616"/>
            <a:ext cx="2706624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Sin cobertura completa ni relaciones entre fallos, se pierden precedentes relevantes que pueden definir un caso.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52525"/>
                </a:solidFill>
                <a:latin typeface="Georgia"/>
              </a:rPr>
              <a:t>Legal AI AR: tu asistente jurisprudencial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D04A02"/>
                </a:solidFill>
                <a:latin typeface="Arial"/>
              </a:rPr>
              <a:t>●  </a:t>
            </a:r>
            <a:r>
              <a:rPr sz="1200" b="1">
                <a:solidFill>
                  <a:srgbClr val="252525"/>
                </a:solidFill>
                <a:latin typeface="Arial"/>
              </a:rPr>
              <a:t>Ingesta automática</a:t>
            </a:r>
            <a:r>
              <a:rPr sz="1200">
                <a:solidFill>
                  <a:srgbClr val="474747"/>
                </a:solidFill>
                <a:latin typeface="Arial"/>
              </a:rPr>
              <a:t> de fallos desde fuentes públicas argentinas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76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D04A02"/>
                </a:solidFill>
                <a:latin typeface="Arial"/>
              </a:rPr>
              <a:t>●  </a:t>
            </a:r>
            <a:r>
              <a:rPr sz="1200" b="1">
                <a:solidFill>
                  <a:srgbClr val="252525"/>
                </a:solidFill>
                <a:latin typeface="Arial"/>
              </a:rPr>
              <a:t>Búsqueda semántica</a:t>
            </a:r>
            <a:r>
              <a:rPr sz="1200">
                <a:solidFill>
                  <a:srgbClr val="474747"/>
                </a:solidFill>
                <a:latin typeface="Arial"/>
              </a:rPr>
              <a:t> en lenguaje natural sobre toda la base de conocimiento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237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D04A02"/>
                </a:solidFill>
                <a:latin typeface="Arial"/>
              </a:rPr>
              <a:t>●  </a:t>
            </a:r>
            <a:r>
              <a:rPr sz="1200" b="1">
                <a:solidFill>
                  <a:srgbClr val="252525"/>
                </a:solidFill>
                <a:latin typeface="Arial"/>
              </a:rPr>
              <a:t>Chat RAG agéntico</a:t>
            </a:r>
            <a:r>
              <a:rPr sz="1200">
                <a:solidFill>
                  <a:srgbClr val="474747"/>
                </a:solidFill>
                <a:latin typeface="Arial"/>
              </a:rPr>
              <a:t> que responde citando fallos concretos con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712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D04A02"/>
                </a:solidFill>
                <a:latin typeface="Arial"/>
              </a:rPr>
              <a:t>●  </a:t>
            </a:r>
            <a:r>
              <a:rPr sz="1200" b="1">
                <a:solidFill>
                  <a:srgbClr val="252525"/>
                </a:solidFill>
                <a:latin typeface="Arial"/>
              </a:rPr>
              <a:t>Grafo de citas</a:t>
            </a:r>
            <a:r>
              <a:rPr sz="1200">
                <a:solidFill>
                  <a:srgbClr val="474747"/>
                </a:solidFill>
                <a:latin typeface="Arial"/>
              </a:rPr>
              <a:t> entre fallos con resolución retroactiva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18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D04A02"/>
                </a:solidFill>
                <a:latin typeface="Arial"/>
              </a:rPr>
              <a:t>●  </a:t>
            </a:r>
            <a:r>
              <a:rPr sz="1200" b="1">
                <a:solidFill>
                  <a:srgbClr val="252525"/>
                </a:solidFill>
                <a:latin typeface="Arial"/>
              </a:rPr>
              <a:t>Panel de administración</a:t>
            </a:r>
            <a:r>
              <a:rPr sz="1200">
                <a:solidFill>
                  <a:srgbClr val="474747"/>
                </a:solidFill>
                <a:latin typeface="Arial"/>
              </a:rPr>
              <a:t> para controlar el pipeline de ingesta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D04A02"/>
                </a:solidFill>
                <a:latin typeface="Arial"/>
              </a:rPr>
              <a:t>●  </a:t>
            </a:r>
            <a:r>
              <a:rPr sz="1200" b="1">
                <a:solidFill>
                  <a:srgbClr val="252525"/>
                </a:solidFill>
                <a:latin typeface="Arial"/>
              </a:rPr>
              <a:t>Guardrails de seguridad</a:t>
            </a:r>
            <a:r>
              <a:rPr sz="1200">
                <a:solidFill>
                  <a:srgbClr val="474747"/>
                </a:solidFill>
                <a:latin typeface="Arial"/>
              </a:rPr>
              <a:t>: moderación, verificación de citas, disclaimer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384048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6969"/>
                </a:solidFill>
                <a:latin typeface="Arial"/>
              </a:rPr>
              <a:t>Ejemplo de consulta al chat: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331720"/>
            <a:ext cx="4480560" cy="685800"/>
          </a:xfrm>
          <a:prstGeom prst="roundRect">
            <a:avLst>
              <a:gd name="adj" fmla="val 2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331720"/>
            <a:ext cx="38100" cy="6858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4231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52525"/>
                </a:solidFill>
                <a:latin typeface="Arial"/>
              </a:rPr>
              <a:t>¿Qué dijo la Corte Suprema sobre la doble imposición tributaria en los últimos 5 años?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6969"/>
                </a:solidFill>
                <a:latin typeface="Arial"/>
              </a:rPr>
              <a:t>Respuesta del asistente: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429000"/>
            <a:ext cx="448056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5661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74747"/>
                </a:solidFill>
                <a:latin typeface="Arial"/>
              </a:rPr>
              <a:t>La CSJN ha abordado la doble imposición en varios fallos recientes. En </a:t>
            </a:r>
            <a:r>
              <a:rPr sz="1100" b="1">
                <a:solidFill>
                  <a:srgbClr val="D04A02"/>
                </a:solidFill>
                <a:latin typeface="Arial"/>
              </a:rPr>
              <a:t>"Molinos Río de la Plata S.A. c/ DGI"</a:t>
            </a:r>
            <a:r>
              <a:rPr sz="1100">
                <a:solidFill>
                  <a:srgbClr val="474747"/>
                </a:solidFill>
                <a:latin typeface="Arial"/>
              </a:rPr>
              <a:t> (2022) estableció que...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526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✓ 3 citas verificadas contra la base de conocimiento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52525"/>
                </a:solidFill>
                <a:latin typeface="Georgia"/>
              </a:rPr>
              <a:t>Pipeline inteligente de ingesta + Knowledge Base híbrida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86687" y="1920240"/>
            <a:ext cx="1463040" cy="411480"/>
          </a:xfrm>
          <a:prstGeom prst="roundRect">
            <a:avLst>
              <a:gd name="adj" fmla="val 4000"/>
            </a:avLst>
          </a:prstGeom>
          <a:solidFill>
            <a:srgbClr val="FFF0EB"/>
          </a:solidFill>
          <a:ln w="9525">
            <a:solidFill>
              <a:srgbClr val="F5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86687" y="19456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Crawler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1167" y="1869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647" y="1920240"/>
            <a:ext cx="1463040" cy="411480"/>
          </a:xfrm>
          <a:prstGeom prst="roundRect">
            <a:avLst>
              <a:gd name="adj" fmla="val 4000"/>
            </a:avLst>
          </a:prstGeom>
          <a:solidFill>
            <a:srgbClr val="FFF0EB"/>
          </a:solidFill>
          <a:ln w="9525">
            <a:solidFill>
              <a:srgbClr val="F5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2647" y="19456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7127" y="1869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18607" y="1920240"/>
            <a:ext cx="1463040" cy="411480"/>
          </a:xfrm>
          <a:prstGeom prst="roundRect">
            <a:avLst>
              <a:gd name="adj" fmla="val 4000"/>
            </a:avLst>
          </a:prstGeom>
          <a:solidFill>
            <a:srgbClr val="FFF0EB"/>
          </a:solidFill>
          <a:ln w="9525">
            <a:solidFill>
              <a:srgbClr val="F5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8607" y="19456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Enrichment
(GPT-5o)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087" y="1869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4567" y="1920240"/>
            <a:ext cx="1463040" cy="411480"/>
          </a:xfrm>
          <a:prstGeom prst="roundRect">
            <a:avLst>
              <a:gd name="adj" fmla="val 4000"/>
            </a:avLst>
          </a:prstGeom>
          <a:solidFill>
            <a:srgbClr val="FFF0EB"/>
          </a:solidFill>
          <a:ln w="9525">
            <a:solidFill>
              <a:srgbClr val="F5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4567" y="19456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Indexer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9047" y="1869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0527" y="1920240"/>
            <a:ext cx="1463040" cy="411480"/>
          </a:xfrm>
          <a:prstGeom prst="roundRect">
            <a:avLst>
              <a:gd name="adj" fmla="val 4000"/>
            </a:avLst>
          </a:prstGeom>
          <a:solidFill>
            <a:srgbClr val="E9F5EB"/>
          </a:solidFill>
          <a:ln w="9525">
            <a:solidFill>
              <a:srgbClr val="B5DD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0527" y="19456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812D"/>
                </a:solidFill>
                <a:latin typeface="Arial"/>
              </a:rPr>
              <a:t>Knowledge
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2367" y="3017520"/>
            <a:ext cx="3108960" cy="1645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2367" y="3068320"/>
            <a:ext cx="38100" cy="15443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3535" y="321868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Azure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3535" y="3511296"/>
            <a:ext cx="270662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Metadata estructurada, relaciones entre fallos, jueces, leyes y voces temáticas. Grafo de citas con CTEs recursivas.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1367" y="3017520"/>
            <a:ext cx="3108960" cy="1645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41367" y="3068320"/>
            <a:ext cx="38100" cy="15443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42535" y="321868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Azure AI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2535" y="3511296"/>
            <a:ext cx="270662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Búsqueda híbrida (vector + keyword) sobre 2 índices: por fallo y por chunk de 512 tokens con overlap 50.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0367" y="3017520"/>
            <a:ext cx="3108960" cy="1645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0367" y="3068320"/>
            <a:ext cx="38100" cy="15443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1535" y="321868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Azure Blob + OpenAI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1535" y="3511296"/>
            <a:ext cx="270662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PDFs originales en Blob. Embeddings con text-embedding-3-large (3072 dims). Chat con gpt-5o.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029200"/>
            <a:ext cx="1851660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Deduplicación SHA-256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6412" y="5029200"/>
            <a:ext cx="1188720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Idempotencia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58284" y="50292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Scale-to-zero (KEDA)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9436" y="5029200"/>
            <a:ext cx="1115060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DLQ + Retry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97648" y="5029200"/>
            <a:ext cx="2588260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Resolución retroactiva de citas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FUNCIONALIDAD ESTRELLA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52525"/>
                </a:solidFill>
                <a:latin typeface="Georgia"/>
              </a:rPr>
              <a:t>Recorrido de una consulta por el pipeline agéntico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258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6969"/>
                </a:solidFill>
                <a:latin typeface="Arial"/>
              </a:rPr>
              <a:t>Cada pregunta del abogado atraviesa 5 agentes especializados. El Executor invoca herramientas dinámicamente antes de responder.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187" y="2011680"/>
            <a:ext cx="1234440" cy="1188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187" y="208483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52525"/>
                </a:solidFill>
                <a:latin typeface="Arial"/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3957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Abogado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9627" y="2377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9667" y="2011680"/>
            <a:ext cx="1234440" cy="1188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9667" y="208483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52525"/>
                </a:solidFill>
                <a:latin typeface="Arial"/>
              </a:rPr>
              <a:t>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5387" y="23957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Input
Guardrail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5387" y="27249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6969"/>
                </a:solidFill>
                <a:latin typeface="Arial"/>
              </a:rPr>
              <a:t>Filtra prompt injection,
PII y fuera de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4107" y="2377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4147" y="2011680"/>
            <a:ext cx="1234440" cy="1188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4147" y="208483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52525"/>
                </a:solidFill>
                <a:latin typeface="Arial"/>
              </a:rPr>
              <a:t>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9867" y="23957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Query
Enricher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9867" y="27249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6969"/>
                </a:solidFill>
                <a:latin typeface="Arial"/>
              </a:rPr>
              <a:t>Detecta intención,
extrae entidades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8587" y="2377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8627" y="2011680"/>
            <a:ext cx="1234440" cy="1188720"/>
          </a:xfrm>
          <a:prstGeom prst="roundRect">
            <a:avLst>
              <a:gd name="adj" fmla="val 2000"/>
            </a:avLst>
          </a:prstGeom>
          <a:solidFill>
            <a:srgbClr val="FFF0EB"/>
          </a:solidFill>
          <a:ln w="9525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8627" y="208483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04A02"/>
                </a:solidFill>
                <a:latin typeface="Arial"/>
              </a:rPr>
              <a:t>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347" y="23957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04A02"/>
                </a:solidFill>
                <a:latin typeface="Arial"/>
              </a:rPr>
              <a:t>Agentic
Executor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347" y="27249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6969"/>
                </a:solidFill>
                <a:latin typeface="Arial"/>
              </a:rPr>
              <a:t>GPT-5o decide qué
herramientas invocar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3067" y="2377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33107" y="2011680"/>
            <a:ext cx="1234440" cy="1188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33107" y="208483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52525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8827" y="23957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Output
Guardrail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8827" y="27249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6969"/>
                </a:solidFill>
                <a:latin typeface="Arial"/>
              </a:rPr>
              <a:t>Valida citas contra
la DB + disclaimer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7547" y="2377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87587" y="2011680"/>
            <a:ext cx="1234440" cy="1188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87587" y="208483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52525"/>
                </a:solidFill>
                <a:latin typeface="Arial"/>
              </a:rPr>
              <a:t>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3307" y="23957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Finalizer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3307" y="27249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6969"/>
                </a:solidFill>
                <a:latin typeface="Arial"/>
              </a:rPr>
              <a:t>Normaliza citas,
formato final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2027" y="2377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1D1D1"/>
                </a:solidFill>
                <a:latin typeface="Arial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42067" y="2011680"/>
            <a:ext cx="1234440" cy="1188720"/>
          </a:xfrm>
          <a:prstGeom prst="roundRect">
            <a:avLst>
              <a:gd name="adj" fmla="val 2000"/>
            </a:avLst>
          </a:prstGeom>
          <a:solidFill>
            <a:srgbClr val="E9F5EB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2067" y="208483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812D"/>
                </a:solidFill>
                <a:latin typeface="Arial"/>
              </a:rPr>
              <a:t>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7787" y="23957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812D"/>
                </a:solidFill>
                <a:latin typeface="Arial"/>
              </a:rPr>
              <a:t>Respuesta
verificada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474720"/>
            <a:ext cx="8534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96969"/>
                </a:solidFill>
                <a:latin typeface="Arial"/>
              </a:rPr>
              <a:t>HERRAMIENTAS DISPONIBLES (FUNCTION CALLING)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3794760"/>
            <a:ext cx="1262380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Buscar fallos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47212" y="3794760"/>
            <a:ext cx="1483360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Detalle de fallo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03724" y="3794760"/>
            <a:ext cx="1630679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Citas y relaciones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07555" y="3794760"/>
            <a:ext cx="1336040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Buscar por ley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16747" y="3794760"/>
            <a:ext cx="1188720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Estadísticas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78619" y="3794760"/>
            <a:ext cx="1483360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Fallos similares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35131" y="3794760"/>
            <a:ext cx="1041400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Tribunales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949683" y="3794760"/>
            <a:ext cx="746760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Jueces</a:t>
            </a:r>
          </a:p>
        </p:txBody>
      </p:sp>
      <p:sp>
        <p:nvSpPr>
          <p:cNvPr id="46" name="Oval 45"/>
          <p:cNvSpPr/>
          <p:nvPr/>
        </p:nvSpPr>
        <p:spPr>
          <a:xfrm>
            <a:off x="2743200" y="4381500"/>
            <a:ext cx="127000" cy="127000"/>
          </a:xfrm>
          <a:prstGeom prst="ellipse">
            <a:avLst/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100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Agente con reglas + LLM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0" y="4381500"/>
            <a:ext cx="127000" cy="127000"/>
          </a:xfrm>
          <a:prstGeom prst="ellipse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0700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Ejecutor principal (GPT-5o)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0" y="4381500"/>
            <a:ext cx="127000" cy="127000"/>
          </a:xfrm>
          <a:prstGeom prst="ellipse">
            <a:avLst/>
          </a:prstGeom>
          <a:solidFill>
            <a:srgbClr val="E9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300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Respuesta verificada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STACK TECNOLÓGICO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52525"/>
                </a:solidFill>
                <a:latin typeface="Georgia"/>
              </a:rPr>
              <a:t>Enterprise-grade, 100% Azure, escalable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011680"/>
            <a:ext cx="502920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049780"/>
            <a:ext cx="38100" cy="97536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395728"/>
            <a:ext cx="685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.NET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9384" y="2395728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ASP.NET 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51048" y="2395728"/>
            <a:ext cx="1193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MediatR (CQRS)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9712" y="2395728"/>
            <a:ext cx="749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EF 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751328"/>
            <a:ext cx="1320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FluentValidation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4384" y="2751328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AutoMapper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200400"/>
            <a:ext cx="502920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238500"/>
            <a:ext cx="38100" cy="97536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584448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Angular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83384" y="3584448"/>
            <a:ext cx="1638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Standalone Components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6548" y="3584448"/>
            <a:ext cx="1130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SSE Streaming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40048"/>
            <a:ext cx="1003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PwC AppKit4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389120"/>
            <a:ext cx="502920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4427220"/>
            <a:ext cx="38100" cy="97536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480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IA / 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4773168"/>
            <a:ext cx="6858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D04A02"/>
                </a:solidFill>
                <a:latin typeface="Arial"/>
              </a:rPr>
              <a:t>GPT-5o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9384" y="4773168"/>
            <a:ext cx="10033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D04A02"/>
                </a:solidFill>
                <a:latin typeface="Arial"/>
              </a:rPr>
              <a:t>GPT-5o-mini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87548" y="4773168"/>
            <a:ext cx="17018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D04A02"/>
                </a:solidFill>
                <a:latin typeface="Arial"/>
              </a:rPr>
              <a:t>text-embedding-3-large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5128768"/>
            <a:ext cx="13208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D04A02"/>
                </a:solidFill>
                <a:latin typeface="Arial"/>
              </a:rPr>
              <a:t>Function Calling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4384" y="5128768"/>
            <a:ext cx="13843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D04A02"/>
                </a:solidFill>
                <a:latin typeface="Arial"/>
              </a:rPr>
              <a:t>Structured 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011680"/>
            <a:ext cx="502920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2049780"/>
            <a:ext cx="38100" cy="97536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1031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Azure 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2395728"/>
            <a:ext cx="876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Azure 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06284" y="2395728"/>
            <a:ext cx="876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AI 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37448" y="2395728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Blob Storage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59112" y="2395728"/>
            <a:ext cx="1066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Azure OpenAI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2751328"/>
            <a:ext cx="1193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Storage Queues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3784" y="2751328"/>
            <a:ext cx="1193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Container Apps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72448" y="2751328"/>
            <a:ext cx="1003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App Service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3106928"/>
            <a:ext cx="1257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Static Web Apps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200400"/>
            <a:ext cx="502920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3238500"/>
            <a:ext cx="38100" cy="97536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291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Workers (4 microservicios)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3584448"/>
            <a:ext cx="1447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Crawler (Selenium)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77784" y="3584448"/>
            <a:ext cx="1257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Parser (PdfPig)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89948" y="3584448"/>
            <a:ext cx="1511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Enrichment (GPT-5o)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3940048"/>
            <a:ext cx="1511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Indexer (AI Search)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4389120"/>
            <a:ext cx="502920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92240" y="4427220"/>
            <a:ext cx="38100" cy="97536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480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DevOps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4773168"/>
            <a:ext cx="1574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GitHub Actions CI/CD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04784" y="4773168"/>
            <a:ext cx="685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Docker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45448" y="4773168"/>
            <a:ext cx="4953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ACR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95612" y="4773168"/>
            <a:ext cx="14478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800" b="1">
                <a:solidFill>
                  <a:srgbClr val="555555"/>
                </a:solidFill>
                <a:latin typeface="Arial"/>
              </a:rPr>
              <a:t>Staging/Prod slots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COBERTURA DE 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52525"/>
                </a:solidFill>
                <a:latin typeface="Georgia"/>
              </a:rPr>
              <a:t>Ingesta multi-fuente de jurisprudencia argentina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6607" y="2103120"/>
            <a:ext cx="246888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6607" y="2141220"/>
            <a:ext cx="38100" cy="284988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04A02"/>
                </a:solidFill>
                <a:latin typeface="Georgia"/>
              </a:rPr>
              <a:t>CSJN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767" y="2788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4747"/>
                </a:solidFill>
                <a:latin typeface="Arial"/>
              </a:rPr>
              <a:t>Corte Suprema de Justicia
de la Nación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7177" y="3429000"/>
            <a:ext cx="967739" cy="279400"/>
          </a:xfrm>
          <a:prstGeom prst="roundRect">
            <a:avLst>
              <a:gd name="adj" fmla="val 50000"/>
            </a:avLst>
          </a:prstGeom>
          <a:solidFill>
            <a:srgbClr val="E9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/>
          <a:lstStyle/>
          <a:p>
            <a:pPr algn="ctr"/>
            <a:r>
              <a:rPr sz="900" b="1">
                <a:solidFill>
                  <a:srgbClr val="21812D"/>
                </a:solidFill>
                <a:latin typeface="Arial"/>
              </a:rPr>
              <a:t>Phase 1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3794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6969"/>
                </a:solidFill>
                <a:latin typeface="Arial"/>
              </a:rPr>
              <a:t>API-first + Selenium
GPT-5o solo para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9807" y="2103120"/>
            <a:ext cx="246888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9807" y="2141220"/>
            <a:ext cx="38100" cy="284988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807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96969"/>
                </a:solidFill>
                <a:latin typeface="Georgia"/>
              </a:rPr>
              <a:t>SAIJ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967" y="2788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4747"/>
                </a:solidFill>
                <a:latin typeface="Arial"/>
              </a:rPr>
              <a:t>Sistema Argentino de
Información Jurídica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4037" y="3429000"/>
            <a:ext cx="820419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6967" y="3794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6969"/>
                </a:solidFill>
                <a:latin typeface="Arial"/>
              </a:rPr>
              <a:t>HTML + PDF
Enrichment completo GPT-5o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6888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2141220"/>
            <a:ext cx="38100" cy="284988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96969"/>
                </a:solidFill>
                <a:latin typeface="Georgia"/>
              </a:rPr>
              <a:t>PJN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4747"/>
                </a:solidFill>
                <a:latin typeface="Arial"/>
              </a:rPr>
              <a:t>Poder Judicial
de la Nación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7237" y="3429000"/>
            <a:ext cx="820419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794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6969"/>
                </a:solidFill>
                <a:latin typeface="Arial"/>
              </a:rPr>
              <a:t>HTML + PDF
Metadata básica + enrichment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6207" y="2103120"/>
            <a:ext cx="246888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6207" y="2141220"/>
            <a:ext cx="38100" cy="284988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6207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96969"/>
                </a:solidFill>
                <a:latin typeface="Georgia"/>
              </a:rPr>
              <a:t>SCBA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3367" y="2788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4747"/>
                </a:solidFill>
                <a:latin typeface="Arial"/>
              </a:rPr>
              <a:t>Suprema Corte
de Buenos Aires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00437" y="3429000"/>
            <a:ext cx="820419" cy="2794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/>
          <a:lstStyle/>
          <a:p>
            <a:pPr algn="ctr"/>
            <a:r>
              <a:rPr sz="900" b="1">
                <a:solidFill>
                  <a:srgbClr val="D04A02"/>
                </a:solidFill>
                <a:latin typeface="Arial"/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3367" y="3794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96969"/>
                </a:solidFill>
                <a:latin typeface="Arial"/>
              </a:rPr>
              <a:t>HTML + PDF
Metadata básica + enrichment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0352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Cada fallo es enriquecido con: jueces firmantes, leyes citadas, tipo de cita (UPHOLDS, OVERRULES, DISTINGUISHES, CITES), keywords y resumen + holding.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ARQUITECTURA DE CONOCIMIENTO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52525"/>
                </a:solidFill>
                <a:latin typeface="Georgia"/>
              </a:rPr>
              <a:t>De la documentación dispersa al conocimiento ontológico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6969"/>
                </a:solidFill>
                <a:latin typeface="Arial"/>
              </a:rPr>
              <a:t>La información jurídica fragmentada se transforma en una base de conocimiento estructurada semánticamente, que potencia agentes IA especializados.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965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96969"/>
                </a:solidFill>
                <a:latin typeface="Arial"/>
              </a:rPr>
              <a:t>DOCUMENTACIÓN LEGAL EXTERNA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286000"/>
            <a:ext cx="11430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9160" y="2377440"/>
            <a:ext cx="304800" cy="304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" y="2359152"/>
            <a:ext cx="1143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BB9"/>
                </a:solidFill>
                <a:latin typeface="Arial"/>
              </a:rPr>
              <a:t>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63347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CSJN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" y="278892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96969"/>
                </a:solidFill>
                <a:latin typeface="Arial"/>
              </a:rPr>
              <a:t>Corte Suprema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0220" y="2286000"/>
            <a:ext cx="11430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79320" y="2377440"/>
            <a:ext cx="304800" cy="304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0220" y="2359152"/>
            <a:ext cx="1143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BB9"/>
                </a:solidFill>
                <a:latin typeface="Arial"/>
              </a:rPr>
              <a:t>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0220" y="263347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SAIJ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0220" y="278892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96969"/>
                </a:solidFill>
                <a:latin typeface="Arial"/>
              </a:rPr>
              <a:t>Info Jurídica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" y="3200400"/>
            <a:ext cx="11430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9160" y="3291840"/>
            <a:ext cx="304800" cy="304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" y="3273552"/>
            <a:ext cx="1143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BB9"/>
                </a:solidFill>
                <a:latin typeface="Arial"/>
              </a:rPr>
              <a:t>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" y="354787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PJN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" y="370332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96969"/>
                </a:solidFill>
                <a:latin typeface="Arial"/>
              </a:rPr>
              <a:t>Poder Judicial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60220" y="3200400"/>
            <a:ext cx="11430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79320" y="3291840"/>
            <a:ext cx="304800" cy="304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60220" y="3273552"/>
            <a:ext cx="1143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BB9"/>
                </a:solidFill>
                <a:latin typeface="Arial"/>
              </a:rPr>
              <a:t>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0220" y="354787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SCBA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0220" y="370332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96969"/>
                </a:solidFill>
                <a:latin typeface="Arial"/>
              </a:rPr>
              <a:t>Sup. Corte BsAs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087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96969"/>
                </a:solidFill>
                <a:latin typeface="Arial"/>
              </a:rPr>
              <a:t>Fallos, resoluciones, acordadas,
dictámenes, legislación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987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04A02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04A02"/>
                </a:solidFill>
                <a:latin typeface="Arial"/>
              </a:rPr>
              <a:t>Crawling +
Parsing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04A02"/>
                </a:solidFill>
                <a:latin typeface="Arial"/>
              </a:rPr>
              <a:t>ONTOLOGÍA LEGAL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60" y="2286000"/>
            <a:ext cx="2286000" cy="2011680"/>
          </a:xfrm>
          <a:prstGeom prst="roundRect">
            <a:avLst>
              <a:gd name="adj" fmla="val 2000"/>
            </a:avLst>
          </a:prstGeom>
          <a:solidFill>
            <a:srgbClr val="FFF0EB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09160" y="2468880"/>
            <a:ext cx="457200" cy="457200"/>
          </a:xfrm>
          <a:prstGeom prst="ellipse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2450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29260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2525"/>
                </a:solidFill>
                <a:latin typeface="Arial"/>
              </a:rPr>
              <a:t>Modelo semántico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3154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6969"/>
                </a:solidFill>
                <a:latin typeface="Arial"/>
              </a:rPr>
              <a:t>Taxonomía de conceptos,
relaciones y jerarquías
del derecho argentino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31920" y="3703320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D04A02"/>
                </a:solidFill>
                <a:latin typeface="Arial"/>
              </a:rPr>
              <a:t>Tribunales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08296" y="3703320"/>
            <a:ext cx="8128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D04A02"/>
                </a:solidFill>
                <a:latin typeface="Arial"/>
              </a:rPr>
              <a:t>Materias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0" y="4058920"/>
            <a:ext cx="6223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D04A02"/>
                </a:solidFill>
                <a:latin typeface="Arial"/>
              </a:rPr>
              <a:t>Leyes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90796" y="4058920"/>
            <a:ext cx="6858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D04A02"/>
                </a:solidFill>
                <a:latin typeface="Arial"/>
              </a:rPr>
              <a:t>Jueces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13172" y="4058920"/>
            <a:ext cx="6223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D04A02"/>
                </a:solidFill>
                <a:latin typeface="Arial"/>
              </a:rPr>
              <a:t>Citas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1920" y="4414520"/>
            <a:ext cx="62230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D04A02"/>
                </a:solidFill>
                <a:latin typeface="Arial"/>
              </a:rPr>
              <a:t>Voces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2987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04A02"/>
                </a:solidFill>
                <a:latin typeface="Arial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04A02"/>
                </a:solidFill>
                <a:latin typeface="Arial"/>
              </a:rPr>
              <a:t>Enrichment +
Indexing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1812D"/>
                </a:solidFill>
                <a:latin typeface="Arial"/>
              </a:rPr>
              <a:t>KNOWLEDGE BASE ONTOLÓGICA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2286000"/>
            <a:ext cx="2286000" cy="2011680"/>
          </a:xfrm>
          <a:prstGeom prst="roundRect">
            <a:avLst>
              <a:gd name="adj" fmla="val 2000"/>
            </a:avLst>
          </a:prstGeom>
          <a:solidFill>
            <a:srgbClr val="E9F5EB"/>
          </a:solidFill>
          <a:ln w="19050">
            <a:solidFill>
              <a:srgbClr val="6AB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18120" y="2468880"/>
            <a:ext cx="457200" cy="457200"/>
          </a:xfrm>
          <a:prstGeom prst="ellipse">
            <a:avLst/>
          </a:prstGeom>
          <a:solidFill>
            <a:srgbClr val="21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2450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29260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2525"/>
                </a:solidFill>
                <a:latin typeface="Arial"/>
              </a:rPr>
              <a:t>Base unificada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3154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6969"/>
                </a:solidFill>
                <a:latin typeface="Arial"/>
              </a:rPr>
              <a:t>Datos estructurados +
vectores semánticos +
grafo de relaciones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3703320"/>
            <a:ext cx="876300" cy="254000"/>
          </a:xfrm>
          <a:prstGeom prst="roundRect">
            <a:avLst>
              <a:gd name="adj" fmla="val 50000"/>
            </a:avLst>
          </a:prstGeom>
          <a:solidFill>
            <a:srgbClr val="E9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21812D"/>
                </a:solidFill>
                <a:latin typeface="Arial"/>
              </a:rPr>
              <a:t>Azure SQL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3756" y="3703320"/>
            <a:ext cx="876300" cy="254000"/>
          </a:xfrm>
          <a:prstGeom prst="roundRect">
            <a:avLst>
              <a:gd name="adj" fmla="val 50000"/>
            </a:avLst>
          </a:prstGeom>
          <a:solidFill>
            <a:srgbClr val="E9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21812D"/>
                </a:solidFill>
                <a:latin typeface="Arial"/>
              </a:rPr>
              <a:t>AI Search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40880" y="4058920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E9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21812D"/>
                </a:solidFill>
                <a:latin typeface="Arial"/>
              </a:rPr>
              <a:t>Embeddings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17256" y="4058920"/>
            <a:ext cx="1003300" cy="254000"/>
          </a:xfrm>
          <a:prstGeom prst="roundRect">
            <a:avLst>
              <a:gd name="adj" fmla="val 50000"/>
            </a:avLst>
          </a:prstGeom>
          <a:solidFill>
            <a:srgbClr val="E9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700" b="1">
                <a:solidFill>
                  <a:srgbClr val="21812D"/>
                </a:solidFill>
                <a:latin typeface="Arial"/>
              </a:rPr>
              <a:t>Grafo citas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29870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04A02"/>
                </a:solidFill>
                <a:latin typeface="Arial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200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04A02"/>
                </a:solidFill>
                <a:latin typeface="Arial"/>
              </a:rPr>
              <a:t>Function
Calling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04A02"/>
                </a:solidFill>
                <a:latin typeface="Arial"/>
              </a:rPr>
              <a:t>AGENTES IA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2286000"/>
            <a:ext cx="219456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985248" y="2365756"/>
            <a:ext cx="279400" cy="279400"/>
          </a:xfrm>
          <a:prstGeom prst="ellipse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85248" y="2353056"/>
            <a:ext cx="279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232257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2525"/>
                </a:solidFill>
                <a:latin typeface="Arial"/>
              </a:rPr>
              <a:t>Búsqueda semántica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250545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96969"/>
                </a:solidFill>
                <a:latin typeface="Arial"/>
              </a:rPr>
              <a:t>Consultas en lenguaje natural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75520" y="2816352"/>
            <a:ext cx="219456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985248" y="2896108"/>
            <a:ext cx="279400" cy="279400"/>
          </a:xfrm>
          <a:prstGeom prst="ellipse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85248" y="2883408"/>
            <a:ext cx="279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20" y="2852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2525"/>
                </a:solidFill>
                <a:latin typeface="Arial"/>
              </a:rPr>
              <a:t>Chat RAG agéntico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32720" y="30358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96969"/>
                </a:solidFill>
                <a:latin typeface="Arial"/>
              </a:rPr>
              <a:t>Respuestas con citas verificadas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75520" y="3346704"/>
            <a:ext cx="219456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985248" y="3426460"/>
            <a:ext cx="279400" cy="279400"/>
          </a:xfrm>
          <a:prstGeom prst="ellipse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85248" y="3413760"/>
            <a:ext cx="279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32720" y="3383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2525"/>
                </a:solidFill>
                <a:latin typeface="Arial"/>
              </a:rPr>
              <a:t>Análisis de relaciones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2720" y="35661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96969"/>
                </a:solidFill>
                <a:latin typeface="Arial"/>
              </a:rPr>
              <a:t>Grafo de citas y precedentes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875520" y="3877056"/>
            <a:ext cx="219456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85248" y="3956812"/>
            <a:ext cx="279400" cy="279400"/>
          </a:xfrm>
          <a:prstGeom prst="ellipse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85248" y="3944112"/>
            <a:ext cx="279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32720" y="39136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2525"/>
                </a:solidFill>
                <a:latin typeface="Arial"/>
              </a:rPr>
              <a:t>Generación de memos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32720" y="409651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96969"/>
                </a:solidFill>
                <a:latin typeface="Arial"/>
              </a:rPr>
              <a:t>Documentos con fundamentación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32407" y="475488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Datos no estructurados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32407" y="49560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6969"/>
                </a:solidFill>
                <a:latin typeface="Arial"/>
              </a:rPr>
              <a:t>PDFs, HTML, texto libre de múltiples
fuentes con formatos heterogéneos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58487" y="4800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04A02"/>
                </a:solidFill>
                <a:latin typeface="Arial"/>
              </a:rPr>
              <a:t>➡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32807" y="475488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Conocimiento estructurado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32807" y="49560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6969"/>
                </a:solidFill>
                <a:latin typeface="Arial"/>
              </a:rPr>
              <a:t>Entidades, relaciones y semántica
unificada bajo una ontología legal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58887" y="4800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04A02"/>
                </a:solidFill>
                <a:latin typeface="Arial"/>
              </a:rPr>
              <a:t>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33207" y="475488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2525"/>
                </a:solidFill>
                <a:latin typeface="Arial"/>
              </a:rPr>
              <a:t>Inteligencia accionable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33207" y="49560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6969"/>
                </a:solidFill>
                <a:latin typeface="Arial"/>
              </a:rPr>
              <a:t>Agentes IA que razonan sobre la
ontología para dar respuestas precisas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HOJA DE RUTA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52525"/>
                </a:solidFill>
                <a:latin typeface="Georgia"/>
              </a:rPr>
              <a:t>5 fases de evolución planificadas</a:t>
            </a:r>
          </a:p>
        </p:txBody>
      </p:sp>
      <p:sp>
        <p:nvSpPr>
          <p:cNvPr id="4" name="Oval 3"/>
          <p:cNvSpPr/>
          <p:nvPr/>
        </p:nvSpPr>
        <p:spPr>
          <a:xfrm>
            <a:off x="1620367" y="2011680"/>
            <a:ext cx="355600" cy="355600"/>
          </a:xfrm>
          <a:prstGeom prst="ellipse">
            <a:avLst/>
          </a:prstGeom>
          <a:solidFill>
            <a:srgbClr val="E9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4967" y="1998980"/>
            <a:ext cx="406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812D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327" y="2423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2525"/>
                </a:solidFill>
                <a:latin typeface="Arial"/>
              </a:rPr>
              <a:t>Fundaciones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2670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4747"/>
                </a:solidFill>
                <a:latin typeface="Arial"/>
              </a:rPr>
              <a:t>Repo, infra Azure, CI,
dashboard de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77467" y="3154680"/>
            <a:ext cx="1041400" cy="254000"/>
          </a:xfrm>
          <a:prstGeom prst="roundRect">
            <a:avLst>
              <a:gd name="adj" fmla="val 50000"/>
            </a:avLst>
          </a:prstGeom>
          <a:solidFill>
            <a:srgbClr val="E9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/>
          <a:lstStyle/>
          <a:p>
            <a:pPr algn="ctr"/>
            <a:r>
              <a:rPr sz="800" b="1">
                <a:solidFill>
                  <a:srgbClr val="21812D"/>
                </a:solidFill>
                <a:latin typeface="Arial"/>
              </a:rPr>
              <a:t>Completada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4007" y="2286000"/>
            <a:ext cx="12700" cy="731520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69207" y="2011680"/>
            <a:ext cx="355600" cy="355600"/>
          </a:xfrm>
          <a:prstGeom prst="ellipse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3807" y="1998980"/>
            <a:ext cx="406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167" y="2423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2525"/>
                </a:solidFill>
                <a:latin typeface="Arial"/>
              </a:rPr>
              <a:t>Producto mínimo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2670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4747"/>
                </a:solidFill>
                <a:latin typeface="Arial"/>
              </a:rPr>
              <a:t>CSJN crawler, pipeline,
search, chat, auth, deploy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9477" y="3154680"/>
            <a:ext cx="1115060" cy="254000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/>
          <a:lstStyle/>
          <a:p>
            <a:pPr algn="ctr"/>
            <a:r>
              <a:rPr sz="800" b="1">
                <a:solidFill>
                  <a:srgbClr val="D04A02"/>
                </a:solidFill>
                <a:latin typeface="Arial"/>
              </a:rPr>
              <a:t>En progreso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2847" y="2286000"/>
            <a:ext cx="12700" cy="731520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18047" y="2011680"/>
            <a:ext cx="355600" cy="3556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2647" y="1998980"/>
            <a:ext cx="406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96969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0007" y="2423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2525"/>
                </a:solidFill>
                <a:latin typeface="Arial"/>
              </a:rPr>
              <a:t>Expansión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007" y="2670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4747"/>
                </a:solidFill>
                <a:latin typeface="Arial"/>
              </a:rPr>
              <a:t>SAIJ, PJN, SCBA,
scheduling, roles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01687" y="2286000"/>
            <a:ext cx="12700" cy="731520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66887" y="2011680"/>
            <a:ext cx="355600" cy="3556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1487" y="1998980"/>
            <a:ext cx="406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96969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847" y="2423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2525"/>
                </a:solidFill>
                <a:latin typeface="Arial"/>
              </a:rPr>
              <a:t>Inteligencia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8847" y="2670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4747"/>
                </a:solidFill>
                <a:latin typeface="Arial"/>
              </a:rPr>
              <a:t>Neo4j, grafo visual,
timeline, 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50527" y="2286000"/>
            <a:ext cx="12700" cy="731520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15727" y="2011680"/>
            <a:ext cx="355600" cy="3556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0327" y="1998980"/>
            <a:ext cx="406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96969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7687" y="2423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2525"/>
                </a:solidFill>
                <a:latin typeface="Arial"/>
              </a:rPr>
              <a:t>Cobertura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7687" y="2670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4747"/>
                </a:solidFill>
                <a:latin typeface="Arial"/>
              </a:rPr>
              <a:t>Legislación, perfiles
de jueces, doctrina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2367" y="4114800"/>
            <a:ext cx="3108960" cy="109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2367" y="4343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D04A02"/>
                </a:solidFill>
                <a:latin typeface="Georgia"/>
              </a:rPr>
              <a:t>250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2367" y="4892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96969"/>
                </a:solidFill>
                <a:latin typeface="Arial"/>
              </a:rPr>
              <a:t>ENTREGABLES PLANIFICADOS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41367" y="4114800"/>
            <a:ext cx="3108960" cy="109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1367" y="4343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D04A02"/>
                </a:solidFill>
                <a:latin typeface="Georgia"/>
              </a:rPr>
              <a:t>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1367" y="4892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96969"/>
                </a:solidFill>
                <a:latin typeface="Arial"/>
              </a:rPr>
              <a:t>FEATURES DEFINIDAS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70367" y="4114800"/>
            <a:ext cx="3108960" cy="109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0367" y="4343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D04A02"/>
                </a:solidFill>
                <a:latin typeface="Georgia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0367" y="4892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96969"/>
                </a:solidFill>
                <a:latin typeface="Arial"/>
              </a:rPr>
              <a:t>FEATURES EN PHASE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VISIÓN FUTURA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52525"/>
                </a:solidFill>
                <a:latin typeface="Georgia"/>
              </a:rPr>
              <a:t>Más allá del MVP: un ecosistema legal inteligente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2367" y="1920240"/>
            <a:ext cx="310896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2367" y="1971040"/>
            <a:ext cx="38100" cy="13614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13535" y="212140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13535" y="212140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3535" y="21087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3535" y="257860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Generación de memos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3535" y="2871216"/>
            <a:ext cx="2706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Memo jurídico automático con citas verificadas a partir de una pregunta.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1920240"/>
            <a:ext cx="310896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1367" y="1971040"/>
            <a:ext cx="38100" cy="13614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42535" y="212140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42535" y="212140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2535" y="21087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2535" y="257860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Asistente de redacción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2535" y="2871216"/>
            <a:ext cx="2706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Drafting assistant para escritos legales con sugerencias de jurisprudencia.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0367" y="1920240"/>
            <a:ext cx="310896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0367" y="1971040"/>
            <a:ext cx="38100" cy="13614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71535" y="212140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1535" y="212140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1535" y="21087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1535" y="257860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Predicción de 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1535" y="2871216"/>
            <a:ext cx="2706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Análisis predictivo basado en historial de fallos por tema, tribunal y juez.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2367" y="3566160"/>
            <a:ext cx="310896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2367" y="3616960"/>
            <a:ext cx="38100" cy="13614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13535" y="376732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13535" y="376732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3535" y="37546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3535" y="422452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Grafo visual interactivo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3535" y="4517136"/>
            <a:ext cx="2706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Exploración visual de relaciones entre fallos, jueces y leyes con Neo4j.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41367" y="3566160"/>
            <a:ext cx="310896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41367" y="3616960"/>
            <a:ext cx="38100" cy="13614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42535" y="376732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42535" y="376732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2535" y="37546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2535" y="422452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Alertas inteligentes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42535" y="4517136"/>
            <a:ext cx="2706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Notificaciones cuando se indexan fallos relevantes para tus suscripciones.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70367" y="3566160"/>
            <a:ext cx="310896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70367" y="3616960"/>
            <a:ext cx="38100" cy="13614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71535" y="376732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71535" y="376732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1535" y="37546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1535" y="4224528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Plugin para Word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1535" y="4517136"/>
            <a:ext cx="27066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Búsqueda jurisprudencial y citación directa desde Microsoft Word.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394960"/>
            <a:ext cx="2146300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Comparación de documentos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8444" y="5394960"/>
            <a:ext cx="2146300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Carpetas de investigación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99608" y="5394960"/>
            <a:ext cx="967739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Bookmarks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22211" y="5394960"/>
            <a:ext cx="1630679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Extracción tabular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07754" y="5394960"/>
            <a:ext cx="1115060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API pública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77678" y="5394960"/>
            <a:ext cx="1704339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Workspace de equipo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136881" y="5394960"/>
            <a:ext cx="1630679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Perfiles de jueces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822424" y="5394960"/>
            <a:ext cx="2367280" cy="2794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555555"/>
                </a:solidFill>
                <a:latin typeface="Arial"/>
              </a:rPr>
              <a:t>Tendencias jurisprudenciales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B8C00"/>
                </a:solidFill>
                <a:latin typeface="Arial"/>
              </a:rPr>
              <a:t>PROPUESTA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Georgia"/>
              </a:rPr>
              <a:t>Impacto directo en la práctica legal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2367" y="2560320"/>
            <a:ext cx="2286000" cy="1371600"/>
          </a:xfrm>
          <a:prstGeom prst="roundRect">
            <a:avLst>
              <a:gd name="adj" fmla="val 2000"/>
            </a:avLst>
          </a:prstGeom>
          <a:solidFill>
            <a:srgbClr val="3A3A3A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2367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B8C00"/>
                </a:solidFill>
                <a:latin typeface="Georgia"/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367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0"/>
                </a:solidFill>
                <a:latin typeface="Arial"/>
              </a:rPr>
              <a:t>Reducción en tiempo
de investigación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2687" y="2560320"/>
            <a:ext cx="2286000" cy="1371600"/>
          </a:xfrm>
          <a:prstGeom prst="roundRect">
            <a:avLst>
              <a:gd name="adj" fmla="val 2000"/>
            </a:avLst>
          </a:prstGeom>
          <a:solidFill>
            <a:srgbClr val="3A3A3A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2687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B8C00"/>
                </a:solidFill>
                <a:latin typeface="Georgia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2687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0"/>
                </a:solidFill>
                <a:latin typeface="Arial"/>
              </a:rPr>
              <a:t>Citas trazables
y verificadas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560320"/>
            <a:ext cx="2286000" cy="1371600"/>
          </a:xfrm>
          <a:prstGeom prst="roundRect">
            <a:avLst>
              <a:gd name="adj" fmla="val 2000"/>
            </a:avLst>
          </a:prstGeom>
          <a:solidFill>
            <a:srgbClr val="3A3A3A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B8C00"/>
                </a:solidFill>
                <a:latin typeface="Georg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0"/>
                </a:solidFill>
                <a:latin typeface="Arial"/>
              </a:rPr>
              <a:t>Fuentes públicas
integradas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3327" y="2560320"/>
            <a:ext cx="2286000" cy="1371600"/>
          </a:xfrm>
          <a:prstGeom prst="roundRect">
            <a:avLst>
              <a:gd name="adj" fmla="val 2000"/>
            </a:avLst>
          </a:prstGeom>
          <a:solidFill>
            <a:srgbClr val="3A3A3A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3327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B8C00"/>
                </a:solidFill>
                <a:latin typeface="Georgia"/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3327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0"/>
                </a:solidFill>
                <a:latin typeface="Arial"/>
              </a:rPr>
              <a:t>Disponibilidad
del asistente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389120"/>
            <a:ext cx="38100" cy="82296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389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E8E8"/>
                </a:solidFill>
                <a:latin typeface="Georgia"/>
              </a:rPr>
              <a:t>“Un abogado que puede encontrar el precedente exacto en segundos tiene una ventaja competitiva insuperable.”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4A02"/>
                </a:solidFill>
                <a:latin typeface="Arial"/>
              </a:rPr>
              <a:t>DIFERENCIADORES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52525"/>
                </a:solidFill>
                <a:latin typeface="Georgia"/>
              </a:rPr>
              <a:t>¿Por qué Legal AI AR?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9507" y="2011680"/>
            <a:ext cx="48463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9507" y="2062480"/>
            <a:ext cx="38100" cy="1270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90675" y="221284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90675" y="221284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0675" y="22001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675" y="2670048"/>
            <a:ext cx="4443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Específico para derecho argentino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0675" y="2962656"/>
            <a:ext cx="44439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No es un ChatGPT genérico. Ingesta real de fuentes oficiales argentinas con metadata estructurada y verificada.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011680"/>
            <a:ext cx="48463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2062480"/>
            <a:ext cx="38100" cy="1270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7035" y="221284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7035" y="221284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7035" y="22001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035" y="2670048"/>
            <a:ext cx="4443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Citas verificadas, no alucinaciones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035" y="2962656"/>
            <a:ext cx="44439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Output guardrail valida cada cita contra la base de datos. El abogado confía porque puede verificar.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507" y="3566160"/>
            <a:ext cx="48463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9507" y="3616960"/>
            <a:ext cx="38100" cy="1270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90675" y="376732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90675" y="376732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0675" y="37546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0675" y="4224528"/>
            <a:ext cx="4443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Enterprise-grade en Azure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0675" y="4517136"/>
            <a:ext cx="44439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Infraestructura PwC: Azure Entra ID (SSO), cumplimiento, scale-to-zero, CI/CD automatizado.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5867" y="3566160"/>
            <a:ext cx="48463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5867" y="3616960"/>
            <a:ext cx="38100" cy="1270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57035" y="376732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7035" y="376732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7035" y="37546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7035" y="4224528"/>
            <a:ext cx="4443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Agentic, no solo 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7035" y="4517136"/>
            <a:ext cx="44439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El modelo decide qué herramientas usar. Puede buscar, cruzar citas, consultar leyes y agregar estadísticas.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9507" y="5120640"/>
            <a:ext cx="48463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89507" y="5171440"/>
            <a:ext cx="38100" cy="1270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290675" y="532180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90675" y="532180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90675" y="53091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⟨/⟩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0675" y="5779008"/>
            <a:ext cx="4443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Diseñado para evolucionar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0675" y="6071616"/>
            <a:ext cx="44439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Roadmap de 5 fases con 250 entregables. Arquitectura extensible para nuevas fuentes y capacidades.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55867" y="5120640"/>
            <a:ext cx="48463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55867" y="5171440"/>
            <a:ext cx="38100" cy="1270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57035" y="532180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FFF0EB"/>
          </a:solidFill>
          <a:ln w="9525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57035" y="5321808"/>
            <a:ext cx="38100" cy="34747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57035" y="53091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4A02"/>
                </a:solidFill>
                <a:latin typeface="Arial"/>
              </a:rPr>
              <a:t>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7035" y="5779008"/>
            <a:ext cx="4443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2525"/>
                </a:solidFill>
                <a:latin typeface="Arial"/>
              </a:rPr>
              <a:t>UX profesional PwC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7035" y="6071616"/>
            <a:ext cx="444398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Arial"/>
              </a:rPr>
              <a:t>Diseño alineado con AppKit4 de PwC. UI en español. Accesible, responsive, integrada con la marca.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6969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6969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8C00"/>
                </a:solidFill>
                <a:latin typeface="Georgia"/>
              </a:rPr>
              <a:t>pwc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0" y="1170432"/>
            <a:ext cx="12700" cy="2286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0" y="1115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Legal AI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Georgia"/>
              </a:rPr>
              <a:t>La jurisprudencia argentina,
potenciada por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01752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Arial"/>
              </a:rPr>
              <a:t>Transformemos la forma en que nuestros abogados investigan, analizan y construyen argumentos legales.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749039"/>
            <a:ext cx="2133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B8C00"/>
                </a:solidFill>
                <a:latin typeface="Arial"/>
              </a:rPr>
              <a:t>¿Próximos pasos?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8127" y="4297680"/>
            <a:ext cx="2103120" cy="1097280"/>
          </a:xfrm>
          <a:prstGeom prst="roundRect">
            <a:avLst>
              <a:gd name="adj" fmla="val 2000"/>
            </a:avLst>
          </a:prstGeom>
          <a:solidFill>
            <a:srgbClr val="3A3A3A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78127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B8C00"/>
                </a:solidFill>
                <a:latin typeface="Arial"/>
              </a:rP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8127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Arial"/>
              </a:rPr>
              <a:t>Demo con el
equipo legal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5567" y="4297680"/>
            <a:ext cx="2103120" cy="1097280"/>
          </a:xfrm>
          <a:prstGeom prst="roundRect">
            <a:avLst>
              <a:gd name="adj" fmla="val 2000"/>
            </a:avLst>
          </a:prstGeom>
          <a:solidFill>
            <a:srgbClr val="3A3A3A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5567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B8C00"/>
                </a:solidFill>
                <a:latin typeface="Arial"/>
              </a:rPr>
              <a:t>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5567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Arial"/>
              </a:rPr>
              <a:t>Piloto con 100+
fallos CSJN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4297680"/>
            <a:ext cx="2103120" cy="1097280"/>
          </a:xfrm>
          <a:prstGeom prst="roundRect">
            <a:avLst>
              <a:gd name="adj" fmla="val 2000"/>
            </a:avLst>
          </a:prstGeom>
          <a:solidFill>
            <a:srgbClr val="3A3A3A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B8C00"/>
                </a:solidFill>
                <a:latin typeface="Arial"/>
              </a:rPr>
              <a:t>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Arial"/>
              </a:rPr>
              <a:t>Deploy en
staging Azure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0447" y="4297680"/>
            <a:ext cx="2103120" cy="1097280"/>
          </a:xfrm>
          <a:prstGeom prst="roundRect">
            <a:avLst>
              <a:gd name="adj" fmla="val 2000"/>
            </a:avLst>
          </a:prstGeom>
          <a:solidFill>
            <a:srgbClr val="3A3A3A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0447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B8C00"/>
                </a:solidFill>
                <a:latin typeface="Arial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0447" y="480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Arial"/>
              </a:rPr>
              <a:t>Feedback y
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05050"/>
                </a:solidFill>
                <a:latin typeface="Arial"/>
              </a:rPr>
              <a:t>PwC Argentina — Marzo 2026 — Confidencial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05050"/>
                </a:solidFill>
                <a:latin typeface="Arial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